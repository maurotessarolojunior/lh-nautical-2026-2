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db7ad51dd14b9b" /><Relationship Type="http://schemas.openxmlformats.org/officeDocument/2006/relationships/extended-properties" Target="/docProps/app.xml" Id="R2a4332ab955540c2" /><Relationship Type="http://schemas.openxmlformats.org/officeDocument/2006/relationships/officeDocument" Target="/ppt/presentation.xml" Id="R4a69c73ac97a41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2c5ade3b1e4e5f"/>
  </p:sldMasterIdLst>
  <p:notesMasterIdLst>
    <p:notesMasterId xmlns:r="http://schemas.openxmlformats.org/officeDocument/2006/relationships" r:id="R49d640542f6e401b"/>
  </p:notesMasterIdLst>
  <p:sldIdLst>
    <p:sldId xmlns:r="http://schemas.openxmlformats.org/officeDocument/2006/relationships" id="256" r:id="R73be20b31aaf42ae"/>
    <p:sldId xmlns:r="http://schemas.openxmlformats.org/officeDocument/2006/relationships" id="257" r:id="R7a9adab7849b4c52"/>
    <p:sldId xmlns:r="http://schemas.openxmlformats.org/officeDocument/2006/relationships" id="258" r:id="R1d8cf38002784314"/>
    <p:sldId xmlns:r="http://schemas.openxmlformats.org/officeDocument/2006/relationships" id="259" r:id="R751dddc96f134679"/>
    <p:sldId xmlns:r="http://schemas.openxmlformats.org/officeDocument/2006/relationships" id="260" r:id="R95329fbf40dd4773"/>
    <p:sldId xmlns:r="http://schemas.openxmlformats.org/officeDocument/2006/relationships" id="261" r:id="R6723dd84d7504d7f"/>
    <p:sldId xmlns:r="http://schemas.openxmlformats.org/officeDocument/2006/relationships" id="262" r:id="Rc526ad45394e4c78"/>
    <p:sldId xmlns:r="http://schemas.openxmlformats.org/officeDocument/2006/relationships" id="263" r:id="R30b79e6aa5d04b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01539b0a994d72" /><Relationship Type="http://schemas.openxmlformats.org/officeDocument/2006/relationships/slideMaster" Target="/ppt/slideMasters/slideMaster1.xml" Id="Rb02c5ade3b1e4e5f" /><Relationship Type="http://schemas.openxmlformats.org/officeDocument/2006/relationships/notesMaster" Target="/ppt/notesMasters/notesMaster1.xml" Id="R49d640542f6e401b" /><Relationship Type="http://schemas.openxmlformats.org/officeDocument/2006/relationships/presProps" Target="/ppt/presProps.xml" Id="R4fe3d3880336466e" /><Relationship Type="http://schemas.openxmlformats.org/officeDocument/2006/relationships/tableStyles" Target="/ppt/tableStyles.xml" Id="Rc06b3fa42df44853" /><Relationship Type="http://schemas.openxmlformats.org/officeDocument/2006/relationships/slide" Target="/ppt/slides/slide1.xml" Id="R73be20b31aaf42ae" /><Relationship Type="http://schemas.openxmlformats.org/officeDocument/2006/relationships/slide" Target="/ppt/slides/slide2.xml" Id="R7a9adab7849b4c52" /><Relationship Type="http://schemas.openxmlformats.org/officeDocument/2006/relationships/slide" Target="/ppt/slides/slide3.xml" Id="R1d8cf38002784314" /><Relationship Type="http://schemas.openxmlformats.org/officeDocument/2006/relationships/slide" Target="/ppt/slides/slide4.xml" Id="R751dddc96f134679" /><Relationship Type="http://schemas.openxmlformats.org/officeDocument/2006/relationships/slide" Target="/ppt/slides/slide5.xml" Id="R95329fbf40dd4773" /><Relationship Type="http://schemas.openxmlformats.org/officeDocument/2006/relationships/slide" Target="/ppt/slides/slide6.xml" Id="R6723dd84d7504d7f" /><Relationship Type="http://schemas.openxmlformats.org/officeDocument/2006/relationships/slide" Target="/ppt/slides/slide7.xml" Id="Rc526ad45394e4c78" /><Relationship Type="http://schemas.openxmlformats.org/officeDocument/2006/relationships/slide" Target="/ppt/slides/slide8.xml" Id="R30b79e6aa5d04b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aec31255d04d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fd474942e44a2a" /><Relationship Type="http://schemas.openxmlformats.org/officeDocument/2006/relationships/notesMaster" Target="/ppt/notesMasters/notesMaster1.xml" Id="Rdeed894068a54b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58e6ef0a3541dc" /><Relationship Type="http://schemas.openxmlformats.org/officeDocument/2006/relationships/notesMaster" Target="/ppt/notesMasters/notesMaster1.xml" Id="R530b83b4a2c842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d3bfe7d2ee42ed" /><Relationship Type="http://schemas.openxmlformats.org/officeDocument/2006/relationships/notesMaster" Target="/ppt/notesMasters/notesMaster1.xml" Id="R2c79e41d86ed45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adfe9ef7b04d35" /><Relationship Type="http://schemas.openxmlformats.org/officeDocument/2006/relationships/notesMaster" Target="/ppt/notesMasters/notesMaster1.xml" Id="R78d1e077b3db499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e990b1b7594dde" /><Relationship Type="http://schemas.openxmlformats.org/officeDocument/2006/relationships/notesMaster" Target="/ppt/notesMasters/notesMaster1.xml" Id="R9f58aff2dea941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161a5a35f74075" /><Relationship Type="http://schemas.openxmlformats.org/officeDocument/2006/relationships/notesMaster" Target="/ppt/notesMasters/notesMaster1.xml" Id="R9d3d216e6eca41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ad0fa9d98f94c45" /><Relationship Type="http://schemas.openxmlformats.org/officeDocument/2006/relationships/notesMaster" Target="/ppt/notesMasters/notesMaster1.xml" Id="R08fe6ed46ff34a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0ddb7f5c2744d2" /><Relationship Type="http://schemas.openxmlformats.org/officeDocument/2006/relationships/notesMaster" Target="/ppt/notesMasters/notesMaster1.xml" Id="R72cf990fb22048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o projeto como uma jornada completa: dados brutos, base confiável e decisões comunicadas em um dashboard.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/Users/maurotessarolojr/MEGA/Tecnologia/Seletivos/LH Nautical 26_2/Workspace/README.md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que a complexidade foi organizada em quatro momentos: confiar, integrar, analisar e comunicar.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/Users/maurotessarolojr/MEGA/Tecnologia/Seletivos/LH Nautical 26_2/Anotações/roteiro_apresentção.md</a:t>
            </a:r>
          </a:p>
          <a:p xmlns:a="http://schemas.openxmlformats.org/drawingml/2006/main">
            <a:r>
              <a:t>- /Users/maurotessarolojr/MEGA/Tecnologia/Seletivos/LH Nautical 26_2/Workspace/README.md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que a engenharia de dados não foi um bloco isolado: ela garantiu que todas as conclusões seguintes fossem rastreáveis.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/Users/maurotessarolojr/MEGA/Tecnologia/Seletivos/LH Nautical 26_2/Workspace/Submissão/Q2/infer_schema.py</a:t>
            </a:r>
          </a:p>
          <a:p xmlns:a="http://schemas.openxmlformats.org/drawingml/2006/main">
            <a:r>
              <a:t>- /Users/maurotessarolojr/MEGA/Tecnologia/Seletivos/LH Nautical 26_2/Workspace/Submissão/Q3/load_data.py</a:t>
            </a:r>
          </a:p>
          <a:p xmlns:a="http://schemas.openxmlformats.org/drawingml/2006/main">
            <a:r>
              <a:t>- /Users/maurotessarolojr/MEGA/Tecnologia/Seletivos/LH Nautical 26_2/Anotações/roteiro_apresentção.md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Comece pelo tamanho do negócio e pela divisão entre canais. A participação aproximada de 70% foi inferida a partir dos valores exibidos no painel.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/Users/maurotessarolojr/MEGA/Tecnologia/Seletivos/LH Nautical 26_2/Workspace/dashboard/LH_Nautical_2026_2_Dashboard.pdf</a:t>
            </a:r>
          </a:p>
          <a:p xmlns:a="http://schemas.openxmlformats.org/drawingml/2006/main">
            <a:r>
              <a:t>- /Users/maurotessarolojr/MEGA/Tecnologia/Seletivos/LH Nautical 26_2/Workspace/data/processed/marts/dashboard/pedidos_dashboard.csv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Conecte a análise de clientes a uma ação de relacionamento e a análise física a uma ação operacional. O calendário completo foi necessário para contar dias sem venda como zero.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/Users/maurotessarolojr/MEGA/Tecnologia/Seletivos/LH Nautical 26_2/Workspace/dashboard/LH_Nautical_2026_2_Dashboard.pdf</a:t>
            </a:r>
          </a:p>
          <a:p xmlns:a="http://schemas.openxmlformats.org/drawingml/2006/main">
            <a:r>
              <a:t>- /Users/maurotessarolojr/MEGA/Tecnologia/Seletivos/LH Nautical 26_2/Workspace/data/processed/marts/dashboard/clientes_fieis.csv</a:t>
            </a:r>
          </a:p>
          <a:p xmlns:a="http://schemas.openxmlformats.org/drawingml/2006/main">
            <a:r>
              <a:t>- /Users/maurotessarolojr/MEGA/Tecnologia/Seletivos/LH Nautical 26_2/Workspace/data/processed/marts/dashboard/vendas_dia_semana.csv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o walk-forward: a previsão é atualizada mês a mês com dados já conhecidos. O resultado é didático e útil como baseline, mas não captura tendência ou sazonalidade.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/Users/maurotessarolojr/MEGA/Tecnologia/Seletivos/LH Nautical 26_2/Workspace/Submissão/Q6/6.1.py</a:t>
            </a:r>
          </a:p>
          <a:p xmlns:a="http://schemas.openxmlformats.org/drawingml/2006/main">
            <a:r>
              <a:t>- /Users/maurotessarolojr/MEGA/Tecnologia/Seletivos/LH Nautical 26_2/Workspace/data/processed/marts/dashboard/previsao_demanda.csv</a:t>
            </a:r>
          </a:p>
          <a:p xmlns:a="http://schemas.openxmlformats.org/drawingml/2006/main">
            <a:r>
              <a:t>- /Users/maurotessarolojr/MEGA/Tecnologia/Seletivos/LH Nautical 26_2/Workspace/dashboard/LH_Nautical_2026_2_Dashboard.pdf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a recomendação como hipótese de cross-sell baseada em afinidade. O modelo usa uma matriz binária cliente-produto e similaridade do cosseno.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/Users/maurotessarolojr/MEGA/Tecnologia/Seletivos/LH Nautical 26_2/Workspace/Submissão/Q7/7.1.py</a:t>
            </a:r>
          </a:p>
          <a:p xmlns:a="http://schemas.openxmlformats.org/drawingml/2006/main">
            <a:r>
              <a:t>- /Users/maurotessarolojr/MEGA/Tecnologia/Seletivos/LH Nautical 26_2/Workspace/data/processed/marts/dashboard/recomendacoes.csv</a:t>
            </a:r>
          </a:p>
          <a:p xmlns:a="http://schemas.openxmlformats.org/drawingml/2006/main">
            <a:r>
              <a:t>- /Users/maurotessarolojr/MEGA/Tecnologia/Seletivos/LH Nautical 26_2/Workspace/dashboard/LH_Nautical_2026_2_Dashboard.pdf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Feche reforçando rastreabilidade, clareza de limites e disponibilidade das entregas. O link do dashboard está configurado como público e somente leitura.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https://datastudio.google.com/reporting/704e9400-e2d7-4603-9b67-a3585f3a890d</a:t>
            </a:r>
          </a:p>
          <a:p xmlns:a="http://schemas.openxmlformats.org/drawingml/2006/main">
            <a:r>
              <a:t>- https://github.com/maurotessarolojunior/lh-nautical-2026-2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6ef5ed499143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cf3957cf0644a4" /><Relationship Type="http://schemas.openxmlformats.org/officeDocument/2006/relationships/slideLayout" Target="/ppt/slideLayouts/slideLayout1.xml" Id="R73e8f6a0889c4a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e8f6a0889c4a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8f7c9f567c49d1" /><Relationship Type="http://schemas.openxmlformats.org/officeDocument/2006/relationships/notesSlide" Target="/ppt/notesSlides/notesSlide1.xml" Id="R8ea723246f2848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f922518d7b4a13" /><Relationship Type="http://schemas.openxmlformats.org/officeDocument/2006/relationships/notesSlide" Target="/ppt/notesSlides/notesSlide2.xml" Id="Rf9eee4c0e8da4a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df62fecedb424e" /><Relationship Type="http://schemas.openxmlformats.org/officeDocument/2006/relationships/notesSlide" Target="/ppt/notesSlides/notesSlide3.xml" Id="R838eb0be56244e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f9711a4f074b1a" /><Relationship Type="http://schemas.openxmlformats.org/officeDocument/2006/relationships/image" Target="/ppt/media/image.png" Id="Rcc58ff18acd64190" /><Relationship Type="http://schemas.openxmlformats.org/officeDocument/2006/relationships/notesSlide" Target="/ppt/notesSlides/notesSlide4.xml" Id="Re4d76e5934224bc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0ef1f66bbe4fdc" /><Relationship Type="http://schemas.openxmlformats.org/officeDocument/2006/relationships/image" Target="/ppt/media/image2.png" Id="Rdf5309cf4d3846be" /><Relationship Type="http://schemas.openxmlformats.org/officeDocument/2006/relationships/notesSlide" Target="/ppt/notesSlides/notesSlide5.xml" Id="R0b99217d446641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34559029284ea2" /><Relationship Type="http://schemas.openxmlformats.org/officeDocument/2006/relationships/image" Target="/ppt/media/image3.png" Id="Ra641a4feac75487b" /><Relationship Type="http://schemas.openxmlformats.org/officeDocument/2006/relationships/notesSlide" Target="/ppt/notesSlides/notesSlide6.xml" Id="R5dc87388b5fd4b2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83cb2f1b39443d" /><Relationship Type="http://schemas.openxmlformats.org/officeDocument/2006/relationships/image" Target="/ppt/media/image4.png" Id="R9a5a69b872f342c7" /><Relationship Type="http://schemas.openxmlformats.org/officeDocument/2006/relationships/notesSlide" Target="/ppt/notesSlides/notesSlide7.xml" Id="R72fa1c21510b4e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424743c15c4ce0" /><Relationship Type="http://schemas.openxmlformats.org/officeDocument/2006/relationships/notesSlide" Target="/ppt/notesSlides/notesSlide8.xml" Id="Re19bedc287664e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021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1CC87E-3118-4A1B-83BA-BBEFA11C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3DD"/>
          </a:solidFill>
          <a:ln xmlns:a="http://schemas.openxmlformats.org/drawingml/2006/main" w="0">
            <a:solidFill>
              <a:srgbClr val="2D83D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95A628-4333-4FAF-AA1A-9F8E4A2A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0"/>
            <a:ext cx="4343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363"/>
          </a:solidFill>
          <a:ln xmlns:a="http://schemas.openxmlformats.org/drawingml/2006/main" w="0">
            <a:solidFill>
              <a:srgbClr val="16436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AE614D-C400-4942-A96C-0047224F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98EF"/>
                </a:solidFill>
              </a:defRPr>
            </a:pPr>
            <a:r>
              <a:rPr sz="1125" b="1">
                <a:solidFill>
                  <a:srgbClr val="5598EF"/>
                </a:solidFill>
              </a:rPr>
              <a:t>LH NAUTICAL 2026.2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D1C409-EB71-4A2C-B1F4-920E7597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6477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5F6F8"/>
                </a:solidFill>
              </a:defRPr>
            </a:pPr>
            <a:r>
              <a:rPr sz="3900" b="1">
                <a:solidFill>
                  <a:srgbClr val="F5F6F8"/>
                </a:solidFill>
              </a:rPr>
              <a:t>Da base bruta às</a:t>
            </a:r>
          </a:p>
          <a:p xmlns:a="http://schemas.openxmlformats.org/drawingml/2006/main">
            <a:pPr algn="l">
              <a:defRPr sz="3900" b="1">
                <a:solidFill>
                  <a:srgbClr val="F5F6F8"/>
                </a:solidFill>
              </a:defRPr>
            </a:pPr>
            <a:r>
              <a:rPr sz="3900" b="1">
                <a:solidFill>
                  <a:srgbClr val="F5F6F8"/>
                </a:solidFill>
              </a:rPr>
              <a:t>decisões de negócio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629914-CF12-496F-8AFC-2E3B81FB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6238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FC3CA"/>
                </a:solidFill>
              </a:defRPr>
            </a:pPr>
            <a:r>
              <a:rPr sz="1650" b="0">
                <a:solidFill>
                  <a:srgbClr val="BFC3CA"/>
                </a:solidFill>
              </a:rPr>
              <a:t>Engenharia de dados, análises, previsão de demanda, recomendação e dashboard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AEB188-0D16-4679-BDE8-2DEDA631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6F8"/>
                </a:solidFill>
              </a:defRPr>
            </a:pPr>
            <a:r>
              <a:rPr sz="1500" b="1">
                <a:solidFill>
                  <a:srgbClr val="F5F6F8"/>
                </a:solidFill>
              </a:rPr>
              <a:t>Mauro Tessarolo Junior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595B37-DC5F-4206-B24C-63077FCA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72175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F949D"/>
                </a:solidFill>
              </a:defRPr>
            </a:pPr>
            <a:r>
              <a:rPr sz="1125" b="0">
                <a:solidFill>
                  <a:srgbClr val="8F949D"/>
                </a:solidFill>
              </a:rPr>
              <a:t>Desafio Lighthouse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54CD96-767C-4BBA-B6BA-7CC452BC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89535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5C2257-8376-4139-8F93-F14932CE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1504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FC3CA"/>
                </a:solidFill>
              </a:defRPr>
            </a:pPr>
            <a:r>
              <a:rPr sz="1275" b="0">
                <a:solidFill>
                  <a:srgbClr val="BFC3CA"/>
                </a:solidFill>
              </a:rPr>
              <a:t>arquivos CSV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209774-1EE6-4462-96BB-2486C782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47875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D89"/>
          </a:solidFill>
          <a:ln xmlns:a="http://schemas.openxmlformats.org/drawingml/2006/main" w="0">
            <a:solidFill>
              <a:srgbClr val="3D6D8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9317EA-A2CB-452A-A981-82C5E6B6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6220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433.424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BE9485-40CC-47D4-9ED7-BBBCCBE8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9432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FC3CA"/>
                </a:solidFill>
              </a:defRPr>
            </a:pPr>
            <a:r>
              <a:rPr sz="1275" b="0">
                <a:solidFill>
                  <a:srgbClr val="BFC3CA"/>
                </a:solidFill>
              </a:rPr>
              <a:t>registros carregados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1819CD-13AD-417E-B0B5-3C81017B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95675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D89"/>
          </a:solidFill>
          <a:ln xmlns:a="http://schemas.openxmlformats.org/drawingml/2006/main" w="0">
            <a:solidFill>
              <a:srgbClr val="3D6D8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11B025-3FC2-4CA7-A53D-800CD8C2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790950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C9FCB3-8BA4-449C-9B22-B0DBB153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3434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FC3CA"/>
                </a:solidFill>
              </a:defRPr>
            </a:pPr>
            <a:r>
              <a:rPr sz="1275" b="0">
                <a:solidFill>
                  <a:srgbClr val="BFC3CA"/>
                </a:solidFill>
              </a:rPr>
              <a:t>páginas de dashboard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B5358F-DA06-4A8E-B290-52FE37F1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819775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6F8"/>
                </a:solidFill>
              </a:defRPr>
            </a:pPr>
            <a:r>
              <a:rPr sz="1050" b="0">
                <a:solidFill>
                  <a:srgbClr val="F5F6F8"/>
                </a:solidFill>
              </a:rPr>
              <a:t>SQL  •  Python  •  PostgreSQL  •  Looker Studio</a:t>
            </a:r>
          </a:p>
        </p:txBody>
      </p:sp>
    </p:spTree>
    <p:extLst>
      <p:ext uri="{BB962C8B-B14F-4D97-AF65-F5344CB8AC3E}">
        <p14:creationId xmlns:p14="http://schemas.microsoft.com/office/powerpoint/2010/main" val="1410675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2021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5A8D25-CE10-4D33-B306-7FD69CF9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98EF"/>
                </a:solidFill>
              </a:defRPr>
            </a:pPr>
            <a:r>
              <a:rPr sz="900" b="1">
                <a:solidFill>
                  <a:srgbClr val="5598EF"/>
                </a:solidFill>
              </a:rPr>
              <a:t>CONTEXTO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6DDAE5-D904-4910-9387-8A7D286F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6F8"/>
                </a:solidFill>
              </a:defRPr>
            </a:pPr>
            <a:r>
              <a:rPr sz="2850" b="1">
                <a:solidFill>
                  <a:srgbClr val="F5F6F8"/>
                </a:solidFill>
              </a:rPr>
              <a:t>O desafio exigia transformar 24 bases brutas em decisões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0073E1-1514-401D-9F32-4025C2C4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850"/>
          </a:solidFill>
          <a:ln xmlns:a="http://schemas.openxmlformats.org/drawingml/2006/main" w="0">
            <a:solidFill>
              <a:srgbClr val="46485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680881-EA4D-4733-9004-816E3A4E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F949D"/>
                </a:solidFill>
              </a:defRPr>
            </a:pPr>
            <a:r>
              <a:rPr sz="825" b="0">
                <a:solidFill>
                  <a:srgbClr val="8F949D"/>
                </a:solidFill>
              </a:rPr>
              <a:t>LH Nautical 2026.2  |  Mauro Tessarolo Junior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E8D675-93FB-46C2-9361-6F7D8A72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F949D"/>
                </a:solidFill>
              </a:defRPr>
            </a:pPr>
            <a:r>
              <a:rPr sz="825" b="0">
                <a:solidFill>
                  <a:srgbClr val="8F949D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FADD82-C143-45D7-9AF9-3A37EF8D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742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FC3CA"/>
                </a:solidFill>
              </a:defRPr>
            </a:pPr>
            <a:r>
              <a:rPr sz="1725" b="0">
                <a:solidFill>
                  <a:srgbClr val="BFC3CA"/>
                </a:solidFill>
              </a:rPr>
              <a:t>A pergunta não era apenas "o que aconteceu?". Era preciso construir uma cadeia confiável que sustentasse análise, previsão e recomendação.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F7307B-3D64-4CAA-8C46-C48F72C4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14600"/>
            <a:ext cx="32575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2E2D34"/>
          </a:solidFill>
          <a:ln xmlns:a="http://schemas.openxmlformats.org/drawingml/2006/main" w="9525">
            <a:solidFill>
              <a:srgbClr val="46485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973657-A27B-46CE-ABA8-940134D0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1460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3DD"/>
          </a:solidFill>
          <a:ln xmlns:a="http://schemas.openxmlformats.org/drawingml/2006/main" w="0">
            <a:solidFill>
              <a:srgbClr val="2D83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EE68CC-C460-4504-BD4B-402606D2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2876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6F8"/>
                </a:solidFill>
              </a:defRPr>
            </a:pPr>
            <a:r>
              <a:rPr sz="2400" b="1">
                <a:solidFill>
                  <a:srgbClr val="F5F6F8"/>
                </a:solidFill>
              </a:rPr>
              <a:t>24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F61F4A-A9D4-4B83-B3D1-99F20B83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52775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FC3CA"/>
                </a:solidFill>
              </a:defRPr>
            </a:pPr>
            <a:r>
              <a:rPr sz="1125" b="0">
                <a:solidFill>
                  <a:srgbClr val="BFC3CA"/>
                </a:solidFill>
              </a:rPr>
              <a:t>CSVs com catálogo, clientes, pedidos, estoque e fiscal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5BEEB4-8267-49DC-8C47-4CF18F82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514600"/>
            <a:ext cx="32575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2E2D34"/>
          </a:solidFill>
          <a:ln xmlns:a="http://schemas.openxmlformats.org/drawingml/2006/main" w="9525">
            <a:solidFill>
              <a:srgbClr val="46485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9ED297-8A1E-4B1C-B08E-843D2D08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51460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BFA8"/>
          </a:solidFill>
          <a:ln xmlns:a="http://schemas.openxmlformats.org/drawingml/2006/main" w="0">
            <a:solidFill>
              <a:srgbClr val="57BFA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D39FE0-EB90-4A90-99BD-DB3F6067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67000"/>
            <a:ext cx="2876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6F8"/>
                </a:solidFill>
              </a:defRPr>
            </a:pPr>
            <a:r>
              <a:rPr sz="2400" b="1">
                <a:solidFill>
                  <a:srgbClr val="F5F6F8"/>
                </a:solidFill>
              </a:rPr>
              <a:t>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8FD88D-B498-452E-A0B1-0DF07503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152775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FC3CA"/>
                </a:solidFill>
              </a:defRPr>
            </a:pPr>
            <a:r>
              <a:rPr sz="1125" b="0">
                <a:solidFill>
                  <a:srgbClr val="BFC3CA"/>
                </a:solidFill>
              </a:rPr>
              <a:t>questões conectadas em uma única narrativa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41782A-A830-4F2C-B658-F555A921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14600"/>
            <a:ext cx="32575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2E2D34"/>
          </a:solidFill>
          <a:ln xmlns:a="http://schemas.openxmlformats.org/drawingml/2006/main" w="9525">
            <a:solidFill>
              <a:srgbClr val="46485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F7C471-B877-4A2F-9525-1FCFF7BF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1460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04E"/>
          </a:solidFill>
          <a:ln xmlns:a="http://schemas.openxmlformats.org/drawingml/2006/main" w="0">
            <a:solidFill>
              <a:srgbClr val="F4A04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D1C120-9282-4E9F-97F9-2E323C89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67000"/>
            <a:ext cx="2876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6F8"/>
                </a:solidFill>
              </a:defRPr>
            </a:pPr>
            <a:r>
              <a:rPr sz="2400" b="1">
                <a:solidFill>
                  <a:srgbClr val="F5F6F8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B6C773-029A-4554-8209-2160715A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152775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FC3CA"/>
                </a:solidFill>
              </a:defRPr>
            </a:pPr>
            <a:r>
              <a:rPr sz="1125" b="0">
                <a:solidFill>
                  <a:srgbClr val="BFC3CA"/>
                </a:solidFill>
              </a:rPr>
              <a:t>painel final para o time de negócio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498AD3-7642-4254-A10D-5B819C44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576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3DD"/>
          </a:solidFill>
          <a:ln xmlns:a="http://schemas.openxmlformats.org/drawingml/2006/main" w="0">
            <a:solidFill>
              <a:srgbClr val="2D83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0A3365-8545-4AF4-8B9A-06D55689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576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55002C-0973-44D7-B0C9-5B2912E7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195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6F8"/>
                </a:solidFill>
              </a:defRPr>
            </a:pPr>
            <a:r>
              <a:rPr sz="1500" b="1">
                <a:solidFill>
                  <a:srgbClr val="F5F6F8"/>
                </a:solidFill>
              </a:rPr>
              <a:t>Confiar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2A5264-F815-46A3-B87D-3FB63487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95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C3CA"/>
                </a:solidFill>
              </a:defRPr>
            </a:pPr>
            <a:r>
              <a:rPr sz="1050" b="0">
                <a:solidFill>
                  <a:srgbClr val="BFC3CA"/>
                </a:solidFill>
              </a:rPr>
              <a:t>entender qualidade e tipos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3A2D13-7E29-4649-8653-825FBF06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4577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850"/>
          </a:solidFill>
          <a:ln xmlns:a="http://schemas.openxmlformats.org/drawingml/2006/main" w="0">
            <a:solidFill>
              <a:srgbClr val="46485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824B1B-99A3-4677-A701-68C26EB1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576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3DD"/>
          </a:solidFill>
          <a:ln xmlns:a="http://schemas.openxmlformats.org/drawingml/2006/main" w="0">
            <a:solidFill>
              <a:srgbClr val="2D83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AD09CA-BC91-4D41-B81F-0435F0C0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576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0293A0-9673-4F3F-BAC9-AED00A3E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2195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6F8"/>
                </a:solidFill>
              </a:defRPr>
            </a:pPr>
            <a:r>
              <a:rPr sz="1500" b="1">
                <a:solidFill>
                  <a:srgbClr val="F5F6F8"/>
                </a:solidFill>
              </a:rPr>
              <a:t>Integrar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30F652-E958-429D-9BB5-A49DB9C3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95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C3CA"/>
                </a:solidFill>
              </a:defRPr>
            </a:pPr>
            <a:r>
              <a:rPr sz="1050" b="0">
                <a:solidFill>
                  <a:srgbClr val="BFC3CA"/>
                </a:solidFill>
              </a:rPr>
              <a:t>carregar e reconciliar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DC8DB4-9067-43A2-AEBF-49AAB0C4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577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850"/>
          </a:solidFill>
          <a:ln xmlns:a="http://schemas.openxmlformats.org/drawingml/2006/main" w="0">
            <a:solidFill>
              <a:srgbClr val="46485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FBC567-B39D-4A2E-8AFC-E0A1A131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576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3DD"/>
          </a:solidFill>
          <a:ln xmlns:a="http://schemas.openxmlformats.org/drawingml/2006/main" w="0">
            <a:solidFill>
              <a:srgbClr val="2D83D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6F2B1C-7ECF-4A81-B9CB-5A5D9F1A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576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8585AC-5C28-47B6-8082-523E9326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195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6F8"/>
                </a:solidFill>
              </a:defRPr>
            </a:pPr>
            <a:r>
              <a:rPr sz="1500" b="1">
                <a:solidFill>
                  <a:srgbClr val="F5F6F8"/>
                </a:solidFill>
              </a:rPr>
              <a:t>Analisar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63CFEB-B229-4DE4-B695-A09F1408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95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C3CA"/>
                </a:solidFill>
              </a:defRPr>
            </a:pPr>
            <a:r>
              <a:rPr sz="1050" b="0">
                <a:solidFill>
                  <a:srgbClr val="BFC3CA"/>
                </a:solidFill>
              </a:rPr>
              <a:t>responder às perguntas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622CDC-73EF-4F42-9398-821675F4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850"/>
          </a:solidFill>
          <a:ln xmlns:a="http://schemas.openxmlformats.org/drawingml/2006/main" w="0">
            <a:solidFill>
              <a:srgbClr val="46485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BC0BAB-31CE-4924-93CF-D7680659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2576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A04E"/>
          </a:solidFill>
          <a:ln xmlns:a="http://schemas.openxmlformats.org/drawingml/2006/main" w="0">
            <a:solidFill>
              <a:srgbClr val="F4A04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15154A-3A7E-4CD3-9719-4905F66F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2576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D73606-E37C-45CA-956D-67FE0917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2195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6F8"/>
                </a:solidFill>
              </a:defRPr>
            </a:pPr>
            <a:r>
              <a:rPr sz="1500" b="1">
                <a:solidFill>
                  <a:srgbClr val="F5F6F8"/>
                </a:solidFill>
              </a:rPr>
              <a:t>Comunicar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F947E03-B134-47C5-9C7C-6A682401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495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C3CA"/>
                </a:solidFill>
              </a:defRPr>
            </a:pPr>
            <a:r>
              <a:rPr sz="1050" b="0">
                <a:solidFill>
                  <a:srgbClr val="BFC3CA"/>
                </a:solidFill>
              </a:rPr>
              <a:t>transformar em decisão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1A521D-5A91-49A1-B284-CBBBFD52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625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98EF"/>
                </a:solidFill>
              </a:defRPr>
            </a:pPr>
            <a:r>
              <a:rPr sz="1050" b="1">
                <a:solidFill>
                  <a:srgbClr val="5598EF"/>
                </a:solidFill>
              </a:rPr>
              <a:t>Decisão de escopo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5F35A93-095E-4505-8C9A-79DDD718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6F8"/>
                </a:solidFill>
              </a:defRPr>
            </a:pPr>
            <a:r>
              <a:rPr sz="1425" b="0">
                <a:solidFill>
                  <a:srgbClr val="F5F6F8"/>
                </a:solidFill>
              </a:rPr>
              <a:t>A solução foi mantida compatível com o conteúdo das aulas: robusta o suficiente para ser confiável, simples o suficiente para ser explicada.</a:t>
            </a:r>
          </a:p>
        </p:txBody>
      </p:sp>
    </p:spTree>
    <p:extLst>
      <p:ext uri="{BB962C8B-B14F-4D97-AF65-F5344CB8AC3E}">
        <p14:creationId xmlns:p14="http://schemas.microsoft.com/office/powerpoint/2010/main" val="4222242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021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6F3C693-7461-45FE-BDC0-7E89AA52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98EF"/>
                </a:solidFill>
              </a:defRPr>
            </a:pPr>
            <a:r>
              <a:rPr sz="900" b="1">
                <a:solidFill>
                  <a:srgbClr val="5598EF"/>
                </a:solidFill>
              </a:rPr>
              <a:t>DADOS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52CAA2-B0A2-4608-A6DE-EDEAE593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6F8"/>
                </a:solidFill>
              </a:defRPr>
            </a:pPr>
            <a:r>
              <a:rPr sz="2850" b="1">
                <a:solidFill>
                  <a:srgbClr val="F5F6F8"/>
                </a:solidFill>
              </a:rPr>
              <a:t>A confiança nos resultados começou antes das análises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3D5B04-613E-4C6A-A5E5-9698E877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850"/>
          </a:solidFill>
          <a:ln xmlns:a="http://schemas.openxmlformats.org/drawingml/2006/main" w="0">
            <a:solidFill>
              <a:srgbClr val="46485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BE9308-1497-471E-8BC3-6987C93C6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F949D"/>
                </a:solidFill>
              </a:defRPr>
            </a:pPr>
            <a:r>
              <a:rPr sz="825" b="0">
                <a:solidFill>
                  <a:srgbClr val="8F949D"/>
                </a:solidFill>
              </a:rPr>
              <a:t>LH Nautical 2026.2  |  Mauro Tessarolo Junior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F2672F-9A96-43FF-8D65-5E21B267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F949D"/>
                </a:solidFill>
              </a:defRPr>
            </a:pPr>
            <a:r>
              <a:rPr sz="825" b="0">
                <a:solidFill>
                  <a:srgbClr val="8F949D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F81860-0E52-4E6B-B19E-2CAA8AC6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10648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FC3CA"/>
                </a:solidFill>
              </a:defRPr>
            </a:pPr>
            <a:r>
              <a:rPr sz="1500" b="0">
                <a:solidFill>
                  <a:srgbClr val="BFC3CA"/>
                </a:solidFill>
              </a:rPr>
              <a:t>Três riscos concretos definiram a estratégia de tipagem: chave fiscal com 44 dígitos, identificadores com zero à esquerda e uma coluna totalmente vazia.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9209DA-0B00-414D-9901-5AC9CFA9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28875"/>
            <a:ext cx="1905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2E2D34"/>
          </a:solidFill>
          <a:ln xmlns:a="http://schemas.openxmlformats.org/drawingml/2006/main" w="19050">
            <a:solidFill>
              <a:srgbClr val="2D83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A7F6BB-7DE6-45F8-8171-4B54BAB3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6F8"/>
                </a:solidFill>
              </a:defRPr>
            </a:pPr>
            <a:r>
              <a:rPr sz="1575" b="1">
                <a:solidFill>
                  <a:srgbClr val="F5F6F8"/>
                </a:solidFill>
              </a:rPr>
              <a:t>CSV bruto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EE1CC9-6DC6-433A-AB9E-E9302D93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1562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C3CA"/>
                </a:solidFill>
              </a:defRPr>
            </a:pPr>
            <a:r>
              <a:rPr sz="1050" b="0">
                <a:solidFill>
                  <a:srgbClr val="BFC3CA"/>
                </a:solidFill>
              </a:rPr>
              <a:t>24 fontes preservadas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51E393-AE63-4F2D-B029-75C3B453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19425"/>
            <a:ext cx="2571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850"/>
          </a:solidFill>
          <a:ln xmlns:a="http://schemas.openxmlformats.org/drawingml/2006/main" w="0">
            <a:solidFill>
              <a:srgbClr val="46485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7719E3-09BC-4C5E-B8CC-3F077F51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71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4850"/>
          </a:solidFill>
          <a:ln xmlns:a="http://schemas.openxmlformats.org/drawingml/2006/main" w="0">
            <a:solidFill>
              <a:srgbClr val="46485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EE204A-F8B0-4A2C-9DE0-2E57768E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28875"/>
            <a:ext cx="1905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2E2D34"/>
          </a:solidFill>
          <a:ln xmlns:a="http://schemas.openxmlformats.org/drawingml/2006/main" w="19050">
            <a:solidFill>
              <a:srgbClr val="57BFA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0545D0-A759-4F6E-944A-3D6CEC0F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6098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6F8"/>
                </a:solidFill>
              </a:defRPr>
            </a:pPr>
            <a:r>
              <a:rPr sz="1575" b="1">
                <a:solidFill>
                  <a:srgbClr val="F5F6F8"/>
                </a:solidFill>
              </a:rPr>
              <a:t>Schema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4005E2-357D-4C75-BD3B-F26F82DD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009900"/>
            <a:ext cx="1562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C3CA"/>
                </a:solidFill>
              </a:defRPr>
            </a:pPr>
            <a:r>
              <a:rPr sz="1050" b="0">
                <a:solidFill>
                  <a:srgbClr val="BFC3CA"/>
                </a:solidFill>
              </a:rPr>
              <a:t>tipos inferidos + exceções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E105BC-8C0F-4356-9419-C2F79924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019425"/>
            <a:ext cx="2571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850"/>
          </a:solidFill>
          <a:ln xmlns:a="http://schemas.openxmlformats.org/drawingml/2006/main" w="0">
            <a:solidFill>
              <a:srgbClr val="46485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A3595B-8B68-484F-8206-C73AC9CA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971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4850"/>
          </a:solidFill>
          <a:ln xmlns:a="http://schemas.openxmlformats.org/drawingml/2006/main" w="0">
            <a:solidFill>
              <a:srgbClr val="46485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4604F7-DA2F-4377-B06D-F45E3030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428875"/>
            <a:ext cx="1905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2E2D34"/>
          </a:solidFill>
          <a:ln xmlns:a="http://schemas.openxmlformats.org/drawingml/2006/main" w="19050">
            <a:solidFill>
              <a:srgbClr val="2D83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69C327-98F8-4D39-B5C2-C48A9FF2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098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6F8"/>
                </a:solidFill>
              </a:defRPr>
            </a:pPr>
            <a:r>
              <a:rPr sz="1575" b="1">
                <a:solidFill>
                  <a:srgbClr val="F5F6F8"/>
                </a:solidFill>
              </a:rPr>
              <a:t>PostgreSQL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3C45DE-5BA4-4A5A-A24A-D68B1A16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009900"/>
            <a:ext cx="1562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C3CA"/>
                </a:solidFill>
              </a:defRPr>
            </a:pPr>
            <a:r>
              <a:rPr sz="1050" b="0">
                <a:solidFill>
                  <a:srgbClr val="BFC3CA"/>
                </a:solidFill>
              </a:rPr>
              <a:t>carga transacional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C79ED9-962C-4AC7-989D-975F283B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19425"/>
            <a:ext cx="2571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850"/>
          </a:solidFill>
          <a:ln xmlns:a="http://schemas.openxmlformats.org/drawingml/2006/main" w="0">
            <a:solidFill>
              <a:srgbClr val="46485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A5923F-E9AA-4F30-949B-B9CD8775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71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4850"/>
          </a:solidFill>
          <a:ln xmlns:a="http://schemas.openxmlformats.org/drawingml/2006/main" w="0">
            <a:solidFill>
              <a:srgbClr val="46485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D0F282-E7F4-4B5E-B0AA-92C5ACC9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428875"/>
            <a:ext cx="1905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2E2D34"/>
          </a:solidFill>
          <a:ln xmlns:a="http://schemas.openxmlformats.org/drawingml/2006/main" w="19050">
            <a:solidFill>
              <a:srgbClr val="F4A04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ECDF4A-6415-4018-8768-BAB0126E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6098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6F8"/>
                </a:solidFill>
              </a:defRPr>
            </a:pPr>
            <a:r>
              <a:rPr sz="1575" b="1">
                <a:solidFill>
                  <a:srgbClr val="F5F6F8"/>
                </a:solidFill>
              </a:rPr>
              <a:t>Análises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B1206D-605D-4147-A7B8-2B39B56B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009900"/>
            <a:ext cx="1562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C3CA"/>
                </a:solidFill>
              </a:defRPr>
            </a:pPr>
            <a:r>
              <a:rPr sz="1050" b="0">
                <a:solidFill>
                  <a:srgbClr val="BFC3CA"/>
                </a:solidFill>
              </a:rPr>
              <a:t>SQL e DataFrames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81AEBA-B253-4F89-9E52-77FE1D55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019425"/>
            <a:ext cx="2571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850"/>
          </a:solidFill>
          <a:ln xmlns:a="http://schemas.openxmlformats.org/drawingml/2006/main" w="0">
            <a:solidFill>
              <a:srgbClr val="46485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F69762-3C1D-409E-BA38-EC9AEAEB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971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4850"/>
          </a:solidFill>
          <a:ln xmlns:a="http://schemas.openxmlformats.org/drawingml/2006/main" w="0">
            <a:solidFill>
              <a:srgbClr val="46485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12F228-EE9E-4CD7-A5A6-D3E99515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28875"/>
            <a:ext cx="1905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2E2D34"/>
          </a:solidFill>
          <a:ln xmlns:a="http://schemas.openxmlformats.org/drawingml/2006/main" w="19050">
            <a:solidFill>
              <a:srgbClr val="FF735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C681E1-72FA-43EF-8236-E1BB349E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098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6F8"/>
                </a:solidFill>
              </a:defRPr>
            </a:pPr>
            <a:r>
              <a:rPr sz="1575" b="1">
                <a:solidFill>
                  <a:srgbClr val="F5F6F8"/>
                </a:solidFill>
              </a:rPr>
              <a:t>Marts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C11570-A713-4B0A-A87F-857E9B0B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009900"/>
            <a:ext cx="1562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C3CA"/>
                </a:solidFill>
              </a:defRPr>
            </a:pPr>
            <a:r>
              <a:rPr sz="1050" b="0">
                <a:solidFill>
                  <a:srgbClr val="BFC3CA"/>
                </a:solidFill>
              </a:rPr>
              <a:t>6 extratos para o painel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30458B-E74F-4902-A368-F5665C4C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248150"/>
            <a:ext cx="28956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2E2D34"/>
          </a:solidFill>
          <a:ln xmlns:a="http://schemas.openxmlformats.org/drawingml/2006/main" w="9525">
            <a:solidFill>
              <a:srgbClr val="46485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3B4916-C4BC-4CAD-84E0-B3C4FFAF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2481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3DD"/>
          </a:solidFill>
          <a:ln xmlns:a="http://schemas.openxmlformats.org/drawingml/2006/main" w="0">
            <a:solidFill>
              <a:srgbClr val="2D83D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E375A4-47C0-44C5-BFC3-465B74AC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00550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6F8"/>
                </a:solidFill>
              </a:defRPr>
            </a:pPr>
            <a:r>
              <a:rPr sz="2400" b="1">
                <a:solidFill>
                  <a:srgbClr val="F5F6F8"/>
                </a:solidFill>
              </a:rPr>
              <a:t>433.424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66907D-24E9-4E2D-ADD4-E232342D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886325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FC3CA"/>
                </a:solidFill>
              </a:defRPr>
            </a:pPr>
            <a:r>
              <a:rPr sz="1125" b="0">
                <a:solidFill>
                  <a:srgbClr val="BFC3CA"/>
                </a:solidFill>
              </a:rPr>
              <a:t>registros carregados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4EBDFC-1400-4260-83FB-5A6345D5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248150"/>
            <a:ext cx="28956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2E2D34"/>
          </a:solidFill>
          <a:ln xmlns:a="http://schemas.openxmlformats.org/drawingml/2006/main" w="9525">
            <a:solidFill>
              <a:srgbClr val="46485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ACA77F2-5CBB-450A-B1EC-37855351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2481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BFA8"/>
          </a:solidFill>
          <a:ln xmlns:a="http://schemas.openxmlformats.org/drawingml/2006/main" w="0">
            <a:solidFill>
              <a:srgbClr val="57BFA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1182F2-A8A7-4F92-B872-7574FED8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00550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6F8"/>
                </a:solidFill>
              </a:defRPr>
            </a:pPr>
            <a:r>
              <a:rPr sz="2400" b="1">
                <a:solidFill>
                  <a:srgbClr val="F5F6F8"/>
                </a:solidFill>
              </a:rPr>
              <a:t>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BE54BC-665F-4CC6-914D-42EF4B6A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886325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FC3CA"/>
                </a:solidFill>
              </a:defRPr>
            </a:pPr>
            <a:r>
              <a:rPr sz="1125" b="0">
                <a:solidFill>
                  <a:srgbClr val="BFC3CA"/>
                </a:solidFill>
              </a:rPr>
              <a:t>divergência por tabela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3681BD-9833-41B0-9167-C0D91F88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48150"/>
            <a:ext cx="28956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2E2D34"/>
          </a:solidFill>
          <a:ln xmlns:a="http://schemas.openxmlformats.org/drawingml/2006/main" w="9525">
            <a:solidFill>
              <a:srgbClr val="46485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FE048AB-54DF-40D8-8F6D-0F377C61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481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04E"/>
          </a:solidFill>
          <a:ln xmlns:a="http://schemas.openxmlformats.org/drawingml/2006/main" w="0">
            <a:solidFill>
              <a:srgbClr val="F4A04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67ABC8-DE74-4887-BBF3-8173A4BB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400550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6F8"/>
                </a:solidFill>
              </a:defRPr>
            </a:pPr>
            <a:r>
              <a:rPr sz="2400" b="1">
                <a:solidFill>
                  <a:srgbClr val="F5F6F8"/>
                </a:solidFill>
              </a:rPr>
              <a:t>24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4BE89C2-D8B5-4E2C-8925-C01172D0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886325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FC3CA"/>
                </a:solidFill>
              </a:defRPr>
            </a:pPr>
            <a:r>
              <a:rPr sz="1125" b="0">
                <a:solidFill>
                  <a:srgbClr val="BFC3CA"/>
                </a:solidFill>
              </a:rPr>
              <a:t>tabelas reconciliadas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A72C3E3-D59A-406F-B1B8-7FE018B8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6007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5F6F8"/>
                </a:solidFill>
              </a:defRPr>
            </a:pPr>
            <a:r>
              <a:rPr sz="1350" b="0">
                <a:solidFill>
                  <a:srgbClr val="F5F6F8"/>
                </a:solidFill>
              </a:rPr>
              <a:t>A carga só é confirmada depois da validação. Isso evita que uma falha parcial pareça um resultado correto.</a:t>
            </a:r>
          </a:p>
        </p:txBody>
      </p:sp>
    </p:spTree>
    <p:extLst>
      <p:ext uri="{BB962C8B-B14F-4D97-AF65-F5344CB8AC3E}">
        <p14:creationId xmlns:p14="http://schemas.microsoft.com/office/powerpoint/2010/main" val="11785893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021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E97F2F-714B-48EB-8F87-3E94FDFE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98EF"/>
                </a:solidFill>
              </a:defRPr>
            </a:pPr>
            <a:r>
              <a:rPr sz="900" b="1">
                <a:solidFill>
                  <a:srgbClr val="5598EF"/>
                </a:solidFill>
              </a:rPr>
              <a:t>VISÃO GERAL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1C0D38-F2E2-47C0-9893-C22B06EC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6F8"/>
                </a:solidFill>
              </a:defRPr>
            </a:pPr>
            <a:r>
              <a:rPr sz="2850" b="1">
                <a:solidFill>
                  <a:srgbClr val="F5F6F8"/>
                </a:solidFill>
              </a:rPr>
              <a:t>O e-commerce concentra cerca de 70% do valor registrado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6C3C65-4454-41D3-9949-18FBAA3F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850"/>
          </a:solidFill>
          <a:ln xmlns:a="http://schemas.openxmlformats.org/drawingml/2006/main" w="0">
            <a:solidFill>
              <a:srgbClr val="46485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D3934F-1B21-45A4-9327-583B113C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F949D"/>
                </a:solidFill>
              </a:defRPr>
            </a:pPr>
            <a:r>
              <a:rPr sz="825" b="0">
                <a:solidFill>
                  <a:srgbClr val="8F949D"/>
                </a:solidFill>
              </a:rPr>
              <a:t>LH Nautical 2026.2  |  Mauro Tessarolo Junior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9EDAE6-C364-45AC-8F98-BAD79540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F949D"/>
                </a:solidFill>
              </a:defRPr>
            </a:pPr>
            <a:r>
              <a:rPr sz="825" b="0">
                <a:solidFill>
                  <a:srgbClr val="8F949D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04F445-E369-4AD7-BE9C-BE9E04C3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438275"/>
            <a:ext cx="7477125" cy="4467225"/>
          </a:xfrm>
          <a:prstGeom xmlns:a="http://schemas.openxmlformats.org/drawingml/2006/main" prst="roundRect">
            <a:avLst>
              <a:gd name="adj" fmla="val 1706"/>
            </a:avLst>
          </a:prstGeom>
          <a:solidFill xmlns:a="http://schemas.openxmlformats.org/drawingml/2006/main">
            <a:srgbClr val="27282E"/>
          </a:solidFill>
          <a:ln xmlns:a="http://schemas.openxmlformats.org/drawingml/2006/main" w="9525">
            <a:solidFill>
              <a:srgbClr val="464850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58ff18acd64190"/>
          <a:stretch xmlns:a="http://schemas.openxmlformats.org/drawingml/2006/main"/>
        </p:blipFill>
        <p:spPr>
          <a:xfrm xmlns:a="http://schemas.openxmlformats.org/drawingml/2006/main">
            <a:off x="571500" y="1626368"/>
            <a:ext cx="7267575" cy="4091039"/>
          </a:xfrm>
          <a:prstGeom xmlns:a="http://schemas.openxmlformats.org/drawingml/2006/main" prst="roundRect">
            <a:avLst>
              <a:gd name="adj" fmla="val 44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F178C0-54F9-43A0-A3AC-40CE9BA7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4954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98EF"/>
                </a:solidFill>
              </a:defRPr>
            </a:pPr>
            <a:r>
              <a:rPr sz="1200" b="1">
                <a:solidFill>
                  <a:srgbClr val="5598EF"/>
                </a:solidFill>
              </a:rPr>
              <a:t>Leitura de negócio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18573C-0E35-4F6C-BB50-960B8DCA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6690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5F6F8"/>
                </a:solidFill>
              </a:defRPr>
            </a:pPr>
            <a:r>
              <a:rPr sz="2625" b="1">
                <a:solidFill>
                  <a:srgbClr val="F5F6F8"/>
                </a:solidFill>
              </a:rPr>
              <a:t>R$ 1,41 bi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91E5E1-B9B1-42BE-8EC7-15A4D913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66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FC3CA"/>
                </a:solidFill>
              </a:defRPr>
            </a:pPr>
            <a:r>
              <a:rPr sz="1125" b="0">
                <a:solidFill>
                  <a:srgbClr val="BFC3CA"/>
                </a:solidFill>
              </a:rPr>
              <a:t>valor total registrado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64C203-AE31-464D-BBD1-FBB0D361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28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3DD"/>
          </a:solidFill>
          <a:ln xmlns:a="http://schemas.openxmlformats.org/drawingml/2006/main" w="0">
            <a:solidFill>
              <a:srgbClr val="2D83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DD781C-33D9-4565-A87E-F694A4F9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622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6F8"/>
                </a:solidFill>
              </a:defRPr>
            </a:pPr>
            <a:r>
              <a:rPr sz="1350" b="1">
                <a:solidFill>
                  <a:srgbClr val="F5F6F8"/>
                </a:solidFill>
              </a:rPr>
              <a:t>E-commerce: R$ 987,21 mi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4ECB8F-92BF-465F-AAA9-7555817A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76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A04E"/>
          </a:solidFill>
          <a:ln xmlns:a="http://schemas.openxmlformats.org/drawingml/2006/main" w="0">
            <a:solidFill>
              <a:srgbClr val="F4A04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3F573C-1280-4C47-BB05-173F675B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099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6F8"/>
                </a:solidFill>
              </a:defRPr>
            </a:pPr>
            <a:r>
              <a:rPr sz="1350" b="1">
                <a:solidFill>
                  <a:srgbClr val="F5F6F8"/>
                </a:solidFill>
              </a:rPr>
              <a:t>Lojas físicas: R$ 419,27 mi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4800A5-E908-49F1-8046-B6C63E0F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24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3DD"/>
          </a:solidFill>
          <a:ln xmlns:a="http://schemas.openxmlformats.org/drawingml/2006/main" w="0">
            <a:solidFill>
              <a:srgbClr val="2D83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DC6601-0EE3-43F9-B4EE-FDE9763B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576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FC3CA"/>
                </a:solidFill>
              </a:defRPr>
            </a:pPr>
            <a:r>
              <a:rPr sz="1350" b="0">
                <a:solidFill>
                  <a:srgbClr val="BFC3CA"/>
                </a:solidFill>
              </a:rPr>
              <a:t>48.998 pedidos e 2.000 clientes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FF3BE4-702C-48BA-B510-5A4AB632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95775"/>
            <a:ext cx="306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850"/>
          </a:solidFill>
          <a:ln xmlns:a="http://schemas.openxmlformats.org/drawingml/2006/main" w="0">
            <a:solidFill>
              <a:srgbClr val="46485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8B2D15-73DA-4E84-A2A6-7FC480FA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767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A04E"/>
                </a:solidFill>
              </a:defRPr>
            </a:pPr>
            <a:r>
              <a:rPr sz="1125" b="1">
                <a:solidFill>
                  <a:srgbClr val="F4A04E"/>
                </a:solidFill>
              </a:rPr>
              <a:t>Insight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8BD7CF-2BAE-4BEE-9920-0289ECD5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62500"/>
            <a:ext cx="304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FC3CA"/>
                </a:solidFill>
              </a:defRPr>
            </a:pPr>
            <a:r>
              <a:rPr sz="1275" b="0">
                <a:solidFill>
                  <a:srgbClr val="BFC3CA"/>
                </a:solidFill>
              </a:rPr>
              <a:t>O canal digital lidera o faturamento e deve orientar aquisição, retenção e capacidade operacional. O canal físico continua relevante e merece leitura própria.</a:t>
            </a:r>
          </a:p>
        </p:txBody>
      </p:sp>
    </p:spTree>
    <p:extLst>
      <p:ext uri="{BB962C8B-B14F-4D97-AF65-F5344CB8AC3E}">
        <p14:creationId xmlns:p14="http://schemas.microsoft.com/office/powerpoint/2010/main" val="12738547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2021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5C2E24-FCD7-411D-A23A-92707876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98EF"/>
                </a:solidFill>
              </a:defRPr>
            </a:pPr>
            <a:r>
              <a:rPr sz="900" b="1">
                <a:solidFill>
                  <a:srgbClr val="5598EF"/>
                </a:solidFill>
              </a:rPr>
              <a:t>CLIENTES E OPERAÇÃO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465460-FB11-454D-921B-7E2EF19D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6F8"/>
                </a:solidFill>
              </a:defRPr>
            </a:pPr>
            <a:r>
              <a:rPr sz="2850" b="1">
                <a:solidFill>
                  <a:srgbClr val="F5F6F8"/>
                </a:solidFill>
              </a:rPr>
              <a:t>Clientes fiéis e operação física pedem ações diferentes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25D26B-0542-4FF8-84AB-4981AF91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850"/>
          </a:solidFill>
          <a:ln xmlns:a="http://schemas.openxmlformats.org/drawingml/2006/main" w="0">
            <a:solidFill>
              <a:srgbClr val="46485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192F9B-6E17-4800-B351-740574C8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F949D"/>
                </a:solidFill>
              </a:defRPr>
            </a:pPr>
            <a:r>
              <a:rPr sz="825" b="0">
                <a:solidFill>
                  <a:srgbClr val="8F949D"/>
                </a:solidFill>
              </a:rPr>
              <a:t>LH Nautical 2026.2  |  Mauro Tessarolo Junior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A68175-CDAC-4D20-B90F-985AEF68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F949D"/>
                </a:solidFill>
              </a:defRPr>
            </a:pPr>
            <a:r>
              <a:rPr sz="825" b="0">
                <a:solidFill>
                  <a:srgbClr val="8F949D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9769CB-3781-440D-86BB-353FE517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447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FC3CA"/>
                </a:solidFill>
              </a:defRPr>
            </a:pPr>
            <a:r>
              <a:rPr sz="1500" b="0">
                <a:solidFill>
                  <a:srgbClr val="BFC3CA"/>
                </a:solidFill>
              </a:rPr>
              <a:t>A mesma base revela duas frentes de decisão: relacionamento com clientes de alto valor e melhoria da presença física ao longo da semana.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BD6415-2A81-4FCB-A4E9-55158855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19350"/>
            <a:ext cx="4000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2E2D34"/>
          </a:solidFill>
          <a:ln xmlns:a="http://schemas.openxmlformats.org/drawingml/2006/main" w="9525">
            <a:solidFill>
              <a:srgbClr val="46485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29E75C-B1A3-420A-8881-15500DFF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193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3DD"/>
          </a:solidFill>
          <a:ln xmlns:a="http://schemas.openxmlformats.org/drawingml/2006/main" w="0">
            <a:solidFill>
              <a:srgbClr val="2D83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9B05B6-38E2-4E9C-A371-A819AC94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6F8"/>
                </a:solidFill>
              </a:defRPr>
            </a:pPr>
            <a:r>
              <a:rPr sz="2400" b="1">
                <a:solidFill>
                  <a:srgbClr val="F5F6F8"/>
                </a:solidFill>
              </a:rPr>
              <a:t>R$ 41.839,94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EE31D1-DA34-4CB4-BC31-3BF125D0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FC3CA"/>
                </a:solidFill>
              </a:defRPr>
            </a:pPr>
            <a:r>
              <a:rPr sz="1125" b="0">
                <a:solidFill>
                  <a:srgbClr val="BFC3CA"/>
                </a:solidFill>
              </a:rPr>
              <a:t>maior ticket médio: Isadora Rios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319320-A385-445C-A192-5B000DDE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67125"/>
            <a:ext cx="4000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2E2D34"/>
          </a:solidFill>
          <a:ln xmlns:a="http://schemas.openxmlformats.org/drawingml/2006/main" w="9525">
            <a:solidFill>
              <a:srgbClr val="46485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7D9C99-C08B-4E9D-8B64-AE48126D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67125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BFA8"/>
          </a:solidFill>
          <a:ln xmlns:a="http://schemas.openxmlformats.org/drawingml/2006/main" w="0">
            <a:solidFill>
              <a:srgbClr val="57BFA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7E7DEF-CFB9-450B-8B62-F1B22527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9525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6F8"/>
                </a:solidFill>
              </a:defRPr>
            </a:pPr>
            <a:r>
              <a:rPr sz="2400" b="1">
                <a:solidFill>
                  <a:srgbClr val="F5F6F8"/>
                </a:solidFill>
              </a:rPr>
              <a:t>492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BE4E70-4AC5-4881-949D-497D08C3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053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FC3CA"/>
                </a:solidFill>
              </a:defRPr>
            </a:pPr>
            <a:r>
              <a:rPr sz="1125" b="0">
                <a:solidFill>
                  <a:srgbClr val="BFC3CA"/>
                </a:solidFill>
              </a:rPr>
              <a:t>itens da categoria líder: Hélices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019474-6816-4496-B573-A9F1B708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14900"/>
            <a:ext cx="4000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2E2D34"/>
          </a:solidFill>
          <a:ln xmlns:a="http://schemas.openxmlformats.org/drawingml/2006/main" w="9525">
            <a:solidFill>
              <a:srgbClr val="46485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097500-0514-48A1-8A19-7DB9A7BC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1490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04E"/>
          </a:solidFill>
          <a:ln xmlns:a="http://schemas.openxmlformats.org/drawingml/2006/main" w="0">
            <a:solidFill>
              <a:srgbClr val="F4A04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B1F32E-73F2-45A0-9DDD-3B4FFFD3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6F8"/>
                </a:solidFill>
              </a:defRPr>
            </a:pPr>
            <a:r>
              <a:rPr sz="2400" b="1">
                <a:solidFill>
                  <a:srgbClr val="F5F6F8"/>
                </a:solidFill>
              </a:rPr>
              <a:t>78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57CF76-F910-44A8-9114-1BD0DD9E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5307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FC3CA"/>
                </a:solidFill>
              </a:defRPr>
            </a:pPr>
            <a:r>
              <a:rPr sz="1125" b="0">
                <a:solidFill>
                  <a:srgbClr val="BFC3CA"/>
                </a:solidFill>
              </a:rPr>
              <a:t>dias de lojas físicas sem venda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FBD77F-53D7-444A-B12C-E6036D47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428750"/>
            <a:ext cx="6705600" cy="449580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27282E"/>
          </a:solidFill>
          <a:ln xmlns:a="http://schemas.openxmlformats.org/drawingml/2006/main" w="9525">
            <a:solidFill>
              <a:srgbClr val="464850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5309cf4d3846be"/>
          <a:stretch xmlns:a="http://schemas.openxmlformats.org/drawingml/2006/main"/>
        </p:blipFill>
        <p:spPr>
          <a:xfrm xmlns:a="http://schemas.openxmlformats.org/drawingml/2006/main">
            <a:off x="5105400" y="1842921"/>
            <a:ext cx="6515100" cy="3667458"/>
          </a:xfrm>
          <a:prstGeom xmlns:a="http://schemas.openxmlformats.org/drawingml/2006/main" prst="roundRect">
            <a:avLst>
              <a:gd name="adj" fmla="val 444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31ECEC-83B5-497C-8130-EF5570CC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6019800"/>
            <a:ext cx="670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A04E"/>
                </a:solidFill>
              </a:defRPr>
            </a:pPr>
            <a:r>
              <a:rPr sz="1275" b="1">
                <a:solidFill>
                  <a:srgbClr val="F4A04E"/>
                </a:solidFill>
              </a:rPr>
              <a:t>Quinta-feira apresenta a menor média física: R$ 157.154,32</a:t>
            </a:r>
          </a:p>
        </p:txBody>
      </p:sp>
    </p:spTree>
    <p:extLst>
      <p:ext uri="{BB962C8B-B14F-4D97-AF65-F5344CB8AC3E}">
        <p14:creationId xmlns:p14="http://schemas.microsoft.com/office/powerpoint/2010/main" val="2900245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021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8C9345-D97E-4112-B7A5-733E4B67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98EF"/>
                </a:solidFill>
              </a:defRPr>
            </a:pPr>
            <a:r>
              <a:rPr sz="900" b="1">
                <a:solidFill>
                  <a:srgbClr val="5598EF"/>
                </a:solidFill>
              </a:rPr>
              <a:t>PREVISÃO DE DEMANDA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019B20-FAF7-4F64-B332-BA547177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6F8"/>
                </a:solidFill>
              </a:defRPr>
            </a:pPr>
            <a:r>
              <a:rPr sz="2850" b="1">
                <a:solidFill>
                  <a:srgbClr val="F5F6F8"/>
                </a:solidFill>
              </a:rPr>
              <a:t>O baseline ajuda a planejar, mas subestimou o trimestre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0C1811-60BF-4D95-95FB-6813DA48A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850"/>
          </a:solidFill>
          <a:ln xmlns:a="http://schemas.openxmlformats.org/drawingml/2006/main" w="0">
            <a:solidFill>
              <a:srgbClr val="46485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9E8842-F730-40EF-9293-D57497AE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F949D"/>
                </a:solidFill>
              </a:defRPr>
            </a:pPr>
            <a:r>
              <a:rPr sz="825" b="0">
                <a:solidFill>
                  <a:srgbClr val="8F949D"/>
                </a:solidFill>
              </a:rPr>
              <a:t>LH Nautical 2026.2  |  Mauro Tessarolo Junior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AA1C86-F144-4323-A209-5FE14C9D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F949D"/>
                </a:solidFill>
              </a:defRPr>
            </a:pPr>
            <a:r>
              <a:rPr sz="825" b="0">
                <a:solidFill>
                  <a:srgbClr val="8F949D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95B3A4-6889-4749-8B2F-56466F4E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7286625" cy="4410075"/>
          </a:xfrm>
          <a:prstGeom xmlns:a="http://schemas.openxmlformats.org/drawingml/2006/main" prst="roundRect">
            <a:avLst>
              <a:gd name="adj" fmla="val 1728"/>
            </a:avLst>
          </a:prstGeom>
          <a:solidFill xmlns:a="http://schemas.openxmlformats.org/drawingml/2006/main">
            <a:srgbClr val="27282E"/>
          </a:solidFill>
          <a:ln xmlns:a="http://schemas.openxmlformats.org/drawingml/2006/main" w="9525">
            <a:solidFill>
              <a:srgbClr val="464850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41a4feac75487b"/>
          <a:stretch xmlns:a="http://schemas.openxmlformats.org/drawingml/2006/main"/>
        </p:blipFill>
        <p:spPr>
          <a:xfrm xmlns:a="http://schemas.openxmlformats.org/drawingml/2006/main">
            <a:off x="845412" y="1514475"/>
            <a:ext cx="6510201" cy="4219575"/>
          </a:xfrm>
          <a:prstGeom xmlns:a="http://schemas.openxmlformats.org/drawingml/2006/main" prst="roundRect">
            <a:avLst>
              <a:gd name="adj" fmla="val 451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9E11E3-FA37-42D0-85E1-B0F3B20C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81150"/>
            <a:ext cx="34099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2E2D34"/>
          </a:solidFill>
          <a:ln xmlns:a="http://schemas.openxmlformats.org/drawingml/2006/main" w="9525">
            <a:solidFill>
              <a:srgbClr val="46485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4CF4B5-3A61-4799-A0E4-94C1E53E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811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3DD"/>
          </a:solidFill>
          <a:ln xmlns:a="http://schemas.openxmlformats.org/drawingml/2006/main" w="0">
            <a:solidFill>
              <a:srgbClr val="2D83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A99AC4-5FA4-425C-87E5-3C245477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33550"/>
            <a:ext cx="302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6F8"/>
                </a:solidFill>
              </a:defRPr>
            </a:pPr>
            <a:r>
              <a:rPr sz="2400" b="1">
                <a:solidFill>
                  <a:srgbClr val="F5F6F8"/>
                </a:solidFill>
              </a:rPr>
              <a:t>149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06E538-A694-4945-A04A-CBC01AC9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19325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FC3CA"/>
                </a:solidFill>
              </a:defRPr>
            </a:pPr>
            <a:r>
              <a:rPr sz="1125" b="0">
                <a:solidFill>
                  <a:srgbClr val="BFC3CA"/>
                </a:solidFill>
              </a:rPr>
              <a:t>unidades previstas no trimestre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8097EB-E49F-4201-B9EB-5D14CB06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38450"/>
            <a:ext cx="34099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2E2D34"/>
          </a:solidFill>
          <a:ln xmlns:a="http://schemas.openxmlformats.org/drawingml/2006/main" w="9525">
            <a:solidFill>
              <a:srgbClr val="46485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C95D36-91E4-4309-AA81-1A8B9C32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384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35C"/>
          </a:solidFill>
          <a:ln xmlns:a="http://schemas.openxmlformats.org/drawingml/2006/main" w="0">
            <a:solidFill>
              <a:srgbClr val="FF735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D345C7-C1F7-42C8-99B4-493413C5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90850"/>
            <a:ext cx="302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6F8"/>
                </a:solidFill>
              </a:defRPr>
            </a:pPr>
            <a:r>
              <a:rPr sz="2400" b="1">
                <a:solidFill>
                  <a:srgbClr val="F5F6F8"/>
                </a:solidFill>
              </a:rPr>
              <a:t>19,44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9C6DE4-B5E5-45F6-B5FC-D94B6B31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76625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FC3CA"/>
                </a:solidFill>
              </a:defRPr>
            </a:pPr>
            <a:r>
              <a:rPr sz="1125" b="0">
                <a:solidFill>
                  <a:srgbClr val="BFC3CA"/>
                </a:solidFill>
              </a:rPr>
              <a:t>MAE em unidades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937579-E1E4-4436-80B1-D9340A86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291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A04E"/>
                </a:solidFill>
              </a:defRPr>
            </a:pPr>
            <a:r>
              <a:rPr sz="1200" b="1">
                <a:solidFill>
                  <a:srgbClr val="F4A04E"/>
                </a:solidFill>
              </a:rPr>
              <a:t>O que aconteceu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9DB60F-8C6F-4BD0-AF0F-2ACCF00E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33900"/>
            <a:ext cx="331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FC3CA"/>
                </a:solidFill>
              </a:defRPr>
            </a:pPr>
            <a:r>
              <a:rPr sz="1275" b="0">
                <a:solidFill>
                  <a:srgbClr val="BFC3CA"/>
                </a:solidFill>
              </a:rPr>
              <a:t>A média móvel de três meses reagiu com atraso e ficou abaixo do realizado em janeiro, fevereiro e março.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6A3847-CA7D-479D-8E4B-4D38313A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3149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7BFA8"/>
                </a:solidFill>
              </a:defRPr>
            </a:pPr>
            <a:r>
              <a:rPr sz="1200" b="1">
                <a:solidFill>
                  <a:srgbClr val="57BFA8"/>
                </a:solidFill>
              </a:rPr>
              <a:t>Decisão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416CC2-0EDF-4F3A-9D50-F38D5017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581650"/>
            <a:ext cx="331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6F8"/>
                </a:solidFill>
              </a:defRPr>
            </a:pPr>
            <a:r>
              <a:rPr sz="1275" b="0">
                <a:solidFill>
                  <a:srgbClr val="F5F6F8"/>
                </a:solidFill>
              </a:rPr>
              <a:t>Usar como referência simples, não como único parâmetro de compra.</a:t>
            </a:r>
          </a:p>
        </p:txBody>
      </p:sp>
    </p:spTree>
    <p:extLst>
      <p:ext uri="{BB962C8B-B14F-4D97-AF65-F5344CB8AC3E}">
        <p14:creationId xmlns:p14="http://schemas.microsoft.com/office/powerpoint/2010/main" val="2663635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2021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6C5229-802B-49AC-AF94-F5AD38D62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98EF"/>
                </a:solidFill>
              </a:defRPr>
            </a:pPr>
            <a:r>
              <a:rPr sz="900" b="1">
                <a:solidFill>
                  <a:srgbClr val="5598EF"/>
                </a:solidFill>
              </a:rPr>
              <a:t>RECOMENDAÇÃO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316E89-2329-49A2-AFDE-AFE60F60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6F8"/>
                </a:solidFill>
              </a:defRPr>
            </a:pPr>
            <a:r>
              <a:rPr sz="2850" b="1">
                <a:solidFill>
                  <a:srgbClr val="F5F6F8"/>
                </a:solidFill>
              </a:rPr>
              <a:t>A afinidade entre compradores abre uma hipótese de cross-sell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8F53CD-2CBE-40DC-A2B8-0B52D65D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850"/>
          </a:solidFill>
          <a:ln xmlns:a="http://schemas.openxmlformats.org/drawingml/2006/main" w="0">
            <a:solidFill>
              <a:srgbClr val="46485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B62C50-62BC-46B1-9650-A135DDE3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F949D"/>
                </a:solidFill>
              </a:defRPr>
            </a:pPr>
            <a:r>
              <a:rPr sz="825" b="0">
                <a:solidFill>
                  <a:srgbClr val="8F949D"/>
                </a:solidFill>
              </a:rPr>
              <a:t>LH Nautical 2026.2  |  Mauro Tessarolo Junior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E398E3-02F0-46E5-BCED-8F4134AE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F949D"/>
                </a:solidFill>
              </a:defRPr>
            </a:pPr>
            <a:r>
              <a:rPr sz="825" b="0">
                <a:solidFill>
                  <a:srgbClr val="8F949D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1AB9E2-419F-47FF-B204-78F4EE62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98EF"/>
                </a:solidFill>
              </a:defRPr>
            </a:pPr>
            <a:r>
              <a:rPr sz="1050" b="1">
                <a:solidFill>
                  <a:srgbClr val="5598EF"/>
                </a:solidFill>
              </a:rPr>
              <a:t>Produto de referência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D58D3B-B697-47DB-B64A-A5FAF54B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F6F8"/>
                </a:solidFill>
              </a:defRPr>
            </a:pPr>
            <a:r>
              <a:rPr sz="2250" b="1">
                <a:solidFill>
                  <a:srgbClr val="F5F6F8"/>
                </a:solidFill>
              </a:rPr>
              <a:t>Motor de Popa 1949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BBEFD9-FF02-4B55-BE41-3720A940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14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7BFA8"/>
                </a:solidFill>
              </a:defRPr>
            </a:pPr>
            <a:r>
              <a:rPr sz="1050" b="1">
                <a:solidFill>
                  <a:srgbClr val="57BFA8"/>
                </a:solidFill>
              </a:rPr>
              <a:t>Recomendação principal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BF9EDD-104F-4310-9C57-45A1621D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F6F8"/>
                </a:solidFill>
              </a:defRPr>
            </a:pPr>
            <a:r>
              <a:rPr sz="2250" b="1">
                <a:solidFill>
                  <a:srgbClr val="F5F6F8"/>
                </a:solidFill>
              </a:rPr>
              <a:t>Motor de Popa 5331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71B295-E504-4633-A47A-DA4D761B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66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A04E"/>
                </a:solidFill>
              </a:defRPr>
            </a:pPr>
            <a:r>
              <a:rPr sz="1350" b="1">
                <a:solidFill>
                  <a:srgbClr val="F4A04E"/>
                </a:solidFill>
              </a:rPr>
              <a:t>25,66% de similaridade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5CEECD-631F-4738-AC0B-2E37A640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2905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850"/>
          </a:solidFill>
          <a:ln xmlns:a="http://schemas.openxmlformats.org/drawingml/2006/main" w="0">
            <a:solidFill>
              <a:srgbClr val="46485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441029-78DD-452D-A650-3759D0BF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576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98EF"/>
                </a:solidFill>
              </a:defRPr>
            </a:pPr>
            <a:r>
              <a:rPr sz="1125" b="1">
                <a:solidFill>
                  <a:srgbClr val="5598EF"/>
                </a:solidFill>
              </a:rPr>
              <a:t>Aplicação possível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F54C96-0C66-46D7-83E0-FFE8BF30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4340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FC3CA"/>
                </a:solidFill>
              </a:defRPr>
            </a:pPr>
            <a:r>
              <a:rPr sz="1350" b="0">
                <a:solidFill>
                  <a:srgbClr val="BFC3CA"/>
                </a:solidFill>
              </a:rPr>
              <a:t>Testar ofertas combinadas, recomendações na página do produto e campanhas de pós-compra.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2A7D9F-9D97-46A1-9D87-EF3BC7A7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101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35C"/>
                </a:solidFill>
              </a:defRPr>
            </a:pPr>
            <a:r>
              <a:rPr sz="1125" b="1">
                <a:solidFill>
                  <a:srgbClr val="FF735C"/>
                </a:solidFill>
              </a:rPr>
              <a:t>Limite de interpretação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3404F3-3AD4-4194-A971-EA331672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8640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6F8"/>
                </a:solidFill>
              </a:defRPr>
            </a:pPr>
            <a:r>
              <a:rPr sz="1275" b="0">
                <a:solidFill>
                  <a:srgbClr val="F5F6F8"/>
                </a:solidFill>
              </a:rPr>
              <a:t>Similaridade indica sobreposição relativa entre compradores. Não é probabilidade de compra nem causalidade.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88ABAE-6FFC-4DB1-B3D6-6CF4962D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428750"/>
            <a:ext cx="6667500" cy="449580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27282E"/>
          </a:solidFill>
          <a:ln xmlns:a="http://schemas.openxmlformats.org/drawingml/2006/main" w="9525">
            <a:solidFill>
              <a:srgbClr val="464850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5a69b872f342c7"/>
          <a:stretch xmlns:a="http://schemas.openxmlformats.org/drawingml/2006/main"/>
        </p:blipFill>
        <p:spPr>
          <a:xfrm xmlns:a="http://schemas.openxmlformats.org/drawingml/2006/main">
            <a:off x="5143500" y="1978412"/>
            <a:ext cx="6477000" cy="3396476"/>
          </a:xfrm>
          <a:prstGeom xmlns:a="http://schemas.openxmlformats.org/drawingml/2006/main" prst="roundRect">
            <a:avLst>
              <a:gd name="adj" fmla="val 442"/>
            </a:avLst>
          </a:prstGeom>
        </p:spPr>
      </p:pic>
    </p:spTree>
    <p:extLst>
      <p:ext uri="{BB962C8B-B14F-4D97-AF65-F5344CB8AC3E}">
        <p14:creationId xmlns:p14="http://schemas.microsoft.com/office/powerpoint/2010/main" val="4416914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021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6B7244-D87D-4123-AE51-09092C4C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98EF"/>
                </a:solidFill>
              </a:defRPr>
            </a:pPr>
            <a:r>
              <a:rPr sz="900" b="1">
                <a:solidFill>
                  <a:srgbClr val="5598EF"/>
                </a:solidFill>
              </a:rPr>
              <a:t>CONCLUSÕES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B01328-2EB8-4BF2-80BC-1BD31C32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6F8"/>
                </a:solidFill>
              </a:defRPr>
            </a:pPr>
            <a:r>
              <a:rPr sz="2850" b="1">
                <a:solidFill>
                  <a:srgbClr val="F5F6F8"/>
                </a:solidFill>
              </a:rPr>
              <a:t>As decisões ficam rastreáveis do dado bruto ao painel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ED5319-71C7-4FD9-9A2A-2985FBE8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850"/>
          </a:solidFill>
          <a:ln xmlns:a="http://schemas.openxmlformats.org/drawingml/2006/main" w="0">
            <a:solidFill>
              <a:srgbClr val="46485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C78A2F-A1A5-4776-BD21-04C849A9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F949D"/>
                </a:solidFill>
              </a:defRPr>
            </a:pPr>
            <a:r>
              <a:rPr sz="825" b="0">
                <a:solidFill>
                  <a:srgbClr val="8F949D"/>
                </a:solidFill>
              </a:rPr>
              <a:t>LH Nautical 2026.2  |  Mauro Tessarolo Junior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DFCCAF-7B64-4BB5-ABCE-8E342DF7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F949D"/>
                </a:solidFill>
              </a:defRPr>
            </a:pPr>
            <a:r>
              <a:rPr sz="825" b="0">
                <a:solidFill>
                  <a:srgbClr val="8F949D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47A01C-030F-4473-BE37-AA666DA2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33147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2E2D34"/>
          </a:solidFill>
          <a:ln xmlns:a="http://schemas.openxmlformats.org/drawingml/2006/main" w="9525">
            <a:solidFill>
              <a:srgbClr val="46485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02ED3B-DC04-4E47-A6F8-DB3D208B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3314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3DD"/>
          </a:solidFill>
          <a:ln xmlns:a="http://schemas.openxmlformats.org/drawingml/2006/main" w="0">
            <a:solidFill>
              <a:srgbClr val="2D83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5E11A9-22FD-4B3E-9D77-3B4ED590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2905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F6F8"/>
                </a:solidFill>
              </a:defRPr>
            </a:pPr>
            <a:r>
              <a:rPr sz="1725" b="1">
                <a:solidFill>
                  <a:srgbClr val="F5F6F8"/>
                </a:solidFill>
              </a:rPr>
              <a:t>Dados confiáveis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D4AC98-94AA-4A88-B008-E7A0843C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29051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FC3CA"/>
                </a:solidFill>
              </a:defRPr>
            </a:pPr>
            <a:r>
              <a:rPr sz="1275" b="0">
                <a:solidFill>
                  <a:srgbClr val="BFC3CA"/>
                </a:solidFill>
              </a:rPr>
              <a:t>Tipos sensíveis preservados, carga transacional e 433.424 registros reconciliados.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51000B-D473-4825-B1FB-88A2B1BC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19250"/>
            <a:ext cx="33147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2E2D34"/>
          </a:solidFill>
          <a:ln xmlns:a="http://schemas.openxmlformats.org/drawingml/2006/main" w="9525">
            <a:solidFill>
              <a:srgbClr val="46485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FEB2A8-1DFC-40FA-AF8F-28E6E17A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19250"/>
            <a:ext cx="3314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04E"/>
          </a:solidFill>
          <a:ln xmlns:a="http://schemas.openxmlformats.org/drawingml/2006/main" w="0">
            <a:solidFill>
              <a:srgbClr val="F4A04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5F2A23-907C-485D-B59C-FD969705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47850"/>
            <a:ext cx="2905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F6F8"/>
                </a:solidFill>
              </a:defRPr>
            </a:pPr>
            <a:r>
              <a:rPr sz="1725" b="1">
                <a:solidFill>
                  <a:srgbClr val="F5F6F8"/>
                </a:solidFill>
              </a:rPr>
              <a:t>Insights acionáveis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FE241B-B0F3-437B-87FF-47AA87A9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05050"/>
            <a:ext cx="29051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FC3CA"/>
                </a:solidFill>
              </a:defRPr>
            </a:pPr>
            <a:r>
              <a:rPr sz="1275" b="0">
                <a:solidFill>
                  <a:srgbClr val="BFC3CA"/>
                </a:solidFill>
              </a:rPr>
              <a:t>E-commerce lidera; quinta-feira é o pior dia físico; clientes fiéis e categorias orientam relacionamento.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963F7C-0850-4F52-8D44-6CAF9E43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19250"/>
            <a:ext cx="33147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2E2D34"/>
          </a:solidFill>
          <a:ln xmlns:a="http://schemas.openxmlformats.org/drawingml/2006/main" w="9525">
            <a:solidFill>
              <a:srgbClr val="46485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62413B-1813-41E3-855D-B9755CC7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19250"/>
            <a:ext cx="3314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BFA8"/>
          </a:solidFill>
          <a:ln xmlns:a="http://schemas.openxmlformats.org/drawingml/2006/main" w="0">
            <a:solidFill>
              <a:srgbClr val="57BFA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E0EFA5-2614-49E4-8489-C4A1DD44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47850"/>
            <a:ext cx="2905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F6F8"/>
                </a:solidFill>
              </a:defRPr>
            </a:pPr>
            <a:r>
              <a:rPr sz="1725" b="1">
                <a:solidFill>
                  <a:srgbClr val="F5F6F8"/>
                </a:solidFill>
              </a:rPr>
              <a:t>Modelos com limites claros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E57E12-16D8-4EB9-A31E-542CA95A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05050"/>
            <a:ext cx="29051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FC3CA"/>
                </a:solidFill>
              </a:defRPr>
            </a:pPr>
            <a:r>
              <a:rPr sz="1275" b="0">
                <a:solidFill>
                  <a:srgbClr val="BFC3CA"/>
                </a:solidFill>
              </a:rPr>
              <a:t>Baseline de demanda e afinidade entre compradores apoiam testes, sem prometer precisão ou causalidade.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5828E1-062F-462D-A7F9-8C4CAA53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57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6F8"/>
                </a:solidFill>
              </a:defRPr>
            </a:pPr>
            <a:r>
              <a:rPr sz="1650" b="1">
                <a:solidFill>
                  <a:srgbClr val="F5F6F8"/>
                </a:solidFill>
              </a:rPr>
              <a:t>Acessos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0530B1-1340-4B82-B5C8-FD65B722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98EF"/>
                </a:solidFill>
              </a:defRPr>
            </a:pPr>
            <a:r>
              <a:rPr sz="1050" b="1">
                <a:solidFill>
                  <a:srgbClr val="5598EF"/>
                </a:solidFill>
              </a:rPr>
              <a:t>Dashboard interativo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1780CF-134E-4189-B7CF-44E2027F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39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6F8"/>
                </a:solidFill>
              </a:defRPr>
            </a:pPr>
            <a:r>
              <a:rPr sz="1350" b="0">
                <a:solidFill>
                  <a:srgbClr val="F5F6F8"/>
                </a:solidFill>
              </a:rPr>
              <a:t>datastudio.google.com/reporting/704e9400-e2d7-4603-9b67-a3585f3a890d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50C887-64AE-4F08-8BE3-045E116F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19700"/>
            <a:ext cx="342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7BFA8"/>
                </a:solidFill>
              </a:defRPr>
            </a:pPr>
            <a:r>
              <a:rPr sz="1050" b="1">
                <a:solidFill>
                  <a:srgbClr val="57BFA8"/>
                </a:solidFill>
              </a:rPr>
              <a:t>Repositório e documentação técnica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41BC1E-B3DB-4296-BAE1-BC8F307E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7687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6F8"/>
                </a:solidFill>
              </a:defRPr>
            </a:pPr>
            <a:r>
              <a:rPr sz="1350" b="0">
                <a:solidFill>
                  <a:srgbClr val="F5F6F8"/>
                </a:solidFill>
              </a:rPr>
              <a:t>github.com/maurotessarolojunior/lh-nautical-2026-2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DEFA33-10A6-460F-B80A-BF066C8F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198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F949D"/>
                </a:solidFill>
              </a:defRPr>
            </a:pPr>
            <a:r>
              <a:rPr sz="1125" b="0">
                <a:solidFill>
                  <a:srgbClr val="8F949D"/>
                </a:solidFill>
              </a:rPr>
              <a:t>O dashboard em PDF acompanha esta apresentação como evidência visual da entrega.</a:t>
            </a:r>
          </a:p>
        </p:txBody>
      </p:sp>
    </p:spTree>
    <p:extLst>
      <p:ext uri="{BB962C8B-B14F-4D97-AF65-F5344CB8AC3E}">
        <p14:creationId xmlns:p14="http://schemas.microsoft.com/office/powerpoint/2010/main" val="17914746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2026-08-13T22:23:22.2220000Z</dcterms:created>
  <dcterms:modified xsi:type="dcterms:W3CDTF">2026-08-13T22:23:22.2220000Z</dcterms:modified>
</coreProperties>
</file>